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nva Sans" panose="020B0604020202020204" charset="0"/>
      <p:regular r:id="rId15"/>
    </p:embeddedFont>
    <p:embeddedFont>
      <p:font typeface="Canva San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1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4397" y="271999"/>
            <a:ext cx="6944103" cy="9743002"/>
          </a:xfrm>
          <a:custGeom>
            <a:avLst/>
            <a:gdLst/>
            <a:ahLst/>
            <a:cxnLst/>
            <a:rect l="l" t="t" r="r" b="b"/>
            <a:pathLst>
              <a:path w="6944103" h="9743002">
                <a:moveTo>
                  <a:pt x="0" y="0"/>
                </a:moveTo>
                <a:lnTo>
                  <a:pt x="6944103" y="0"/>
                </a:lnTo>
                <a:lnTo>
                  <a:pt x="6944103" y="9743002"/>
                </a:lnTo>
                <a:lnTo>
                  <a:pt x="0" y="9743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377373" y="2127373"/>
            <a:ext cx="7767627" cy="411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800"/>
              </a:lnSpc>
            </a:pPr>
            <a:r>
              <a:rPr lang="en-US" sz="9000" b="1">
                <a:solidFill>
                  <a:srgbClr val="2E2E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8086 Assembly Stopwatch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77373" y="6917295"/>
            <a:ext cx="7767627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</a:pPr>
            <a:r>
              <a:rPr lang="en-US" sz="3000">
                <a:solidFill>
                  <a:srgbClr val="2E2E2E"/>
                </a:solidFill>
                <a:latin typeface="Canva Sans"/>
                <a:ea typeface="Canva Sans"/>
                <a:cs typeface="Canva Sans"/>
                <a:sym typeface="Canva Sans"/>
              </a:rPr>
              <a:t>A simple explanation of how the stopwatch program works</a:t>
            </a:r>
          </a:p>
        </p:txBody>
      </p:sp>
      <p:sp>
        <p:nvSpPr>
          <p:cNvPr id="5" name="AutoShape 5"/>
          <p:cNvSpPr/>
          <p:nvPr/>
        </p:nvSpPr>
        <p:spPr>
          <a:xfrm>
            <a:off x="9256123" y="6557962"/>
            <a:ext cx="8384422" cy="0"/>
          </a:xfrm>
          <a:prstGeom prst="line">
            <a:avLst/>
          </a:prstGeom>
          <a:ln w="104775" cap="flat">
            <a:solidFill>
              <a:srgbClr val="BCAAD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947290" y="6860683"/>
            <a:ext cx="6843109" cy="0"/>
          </a:xfrm>
          <a:prstGeom prst="line">
            <a:avLst/>
          </a:prstGeom>
          <a:ln w="9525" cap="rnd">
            <a:solidFill>
              <a:srgbClr val="FFC2C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0" y="3443891"/>
            <a:ext cx="18246628" cy="0"/>
          </a:xfrm>
          <a:prstGeom prst="line">
            <a:avLst/>
          </a:prstGeom>
          <a:ln w="9525" cap="rnd">
            <a:solidFill>
              <a:srgbClr val="FFC2C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rot="5400000">
            <a:off x="5243715" y="7053476"/>
            <a:ext cx="7228694" cy="0"/>
          </a:xfrm>
          <a:prstGeom prst="line">
            <a:avLst/>
          </a:prstGeom>
          <a:ln w="9525" cap="rnd">
            <a:solidFill>
              <a:srgbClr val="FFC2C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rot="5400000">
            <a:off x="10172548" y="6860683"/>
            <a:ext cx="6843109" cy="0"/>
          </a:xfrm>
          <a:prstGeom prst="line">
            <a:avLst/>
          </a:prstGeom>
          <a:ln w="9525" cap="rnd">
            <a:solidFill>
              <a:srgbClr val="FFC2C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2730426" y="1019175"/>
            <a:ext cx="12827148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20"/>
              </a:lnSpc>
            </a:pPr>
            <a:r>
              <a:rPr lang="en-US" sz="8100" b="1">
                <a:solidFill>
                  <a:srgbClr val="2E2E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 of the Program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26879" y="4714461"/>
            <a:ext cx="3373149" cy="3122921"/>
            <a:chOff x="0" y="0"/>
            <a:chExt cx="4497532" cy="4163895"/>
          </a:xfrm>
        </p:grpSpPr>
        <p:sp>
          <p:nvSpPr>
            <p:cNvPr id="8" name="Freeform 8"/>
            <p:cNvSpPr/>
            <p:nvPr/>
          </p:nvSpPr>
          <p:spPr>
            <a:xfrm>
              <a:off x="1508303" y="0"/>
              <a:ext cx="1480926" cy="1810021"/>
            </a:xfrm>
            <a:custGeom>
              <a:avLst/>
              <a:gdLst/>
              <a:ahLst/>
              <a:cxnLst/>
              <a:rect l="l" t="t" r="r" b="b"/>
              <a:pathLst>
                <a:path w="1480926" h="1810021">
                  <a:moveTo>
                    <a:pt x="0" y="0"/>
                  </a:moveTo>
                  <a:lnTo>
                    <a:pt x="1480926" y="0"/>
                  </a:lnTo>
                  <a:lnTo>
                    <a:pt x="1480926" y="1810021"/>
                  </a:lnTo>
                  <a:lnTo>
                    <a:pt x="0" y="1810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2939527"/>
              <a:ext cx="4497532" cy="1224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747"/>
                </a:lnSpc>
              </a:pPr>
              <a:r>
                <a:rPr lang="en-US" sz="2882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It shows time in MM:SS:HH format.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39508" y="4714461"/>
            <a:ext cx="3373149" cy="4056829"/>
            <a:chOff x="0" y="0"/>
            <a:chExt cx="4497532" cy="5409105"/>
          </a:xfrm>
        </p:grpSpPr>
        <p:sp>
          <p:nvSpPr>
            <p:cNvPr id="11" name="Freeform 11"/>
            <p:cNvSpPr/>
            <p:nvPr/>
          </p:nvSpPr>
          <p:spPr>
            <a:xfrm>
              <a:off x="1343756" y="0"/>
              <a:ext cx="1810021" cy="1717874"/>
            </a:xfrm>
            <a:custGeom>
              <a:avLst/>
              <a:gdLst/>
              <a:ahLst/>
              <a:cxnLst/>
              <a:rect l="l" t="t" r="r" b="b"/>
              <a:pathLst>
                <a:path w="1810021" h="1717874">
                  <a:moveTo>
                    <a:pt x="0" y="0"/>
                  </a:moveTo>
                  <a:lnTo>
                    <a:pt x="1810020" y="0"/>
                  </a:lnTo>
                  <a:lnTo>
                    <a:pt x="1810020" y="1717874"/>
                  </a:lnTo>
                  <a:lnTo>
                    <a:pt x="0" y="1717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2939527"/>
              <a:ext cx="4497532" cy="24695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700"/>
                </a:lnSpc>
              </a:pPr>
              <a:r>
                <a:rPr lang="en-US" sz="2846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It uses BIOS interrupts to read keyboard, timer, and update screen.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216310" y="4809269"/>
            <a:ext cx="3373149" cy="3467636"/>
            <a:chOff x="0" y="0"/>
            <a:chExt cx="4497532" cy="4623514"/>
          </a:xfrm>
        </p:grpSpPr>
        <p:sp>
          <p:nvSpPr>
            <p:cNvPr id="14" name="Freeform 14"/>
            <p:cNvSpPr/>
            <p:nvPr/>
          </p:nvSpPr>
          <p:spPr>
            <a:xfrm>
              <a:off x="1422738" y="0"/>
              <a:ext cx="1652055" cy="1810021"/>
            </a:xfrm>
            <a:custGeom>
              <a:avLst/>
              <a:gdLst/>
              <a:ahLst/>
              <a:cxnLst/>
              <a:rect l="l" t="t" r="r" b="b"/>
              <a:pathLst>
                <a:path w="1652055" h="1810021">
                  <a:moveTo>
                    <a:pt x="0" y="0"/>
                  </a:moveTo>
                  <a:lnTo>
                    <a:pt x="1652056" y="0"/>
                  </a:lnTo>
                  <a:lnTo>
                    <a:pt x="1652056" y="1810021"/>
                  </a:lnTo>
                  <a:lnTo>
                    <a:pt x="0" y="1810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2813116"/>
              <a:ext cx="4497532" cy="18103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06"/>
                </a:lnSpc>
              </a:pPr>
              <a:r>
                <a:rPr lang="en-US" sz="2774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User controls: SPACE = Start/Stop, R = Reset, Q = Quit.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26516" y="4809269"/>
            <a:ext cx="3373149" cy="3494838"/>
            <a:chOff x="0" y="0"/>
            <a:chExt cx="4497532" cy="4659784"/>
          </a:xfrm>
        </p:grpSpPr>
        <p:sp>
          <p:nvSpPr>
            <p:cNvPr id="17" name="Freeform 17"/>
            <p:cNvSpPr/>
            <p:nvPr/>
          </p:nvSpPr>
          <p:spPr>
            <a:xfrm>
              <a:off x="1626777" y="0"/>
              <a:ext cx="1243978" cy="1810021"/>
            </a:xfrm>
            <a:custGeom>
              <a:avLst/>
              <a:gdLst/>
              <a:ahLst/>
              <a:cxnLst/>
              <a:rect l="l" t="t" r="r" b="b"/>
              <a:pathLst>
                <a:path w="1243978" h="1810021">
                  <a:moveTo>
                    <a:pt x="0" y="0"/>
                  </a:moveTo>
                  <a:lnTo>
                    <a:pt x="1243978" y="0"/>
                  </a:lnTo>
                  <a:lnTo>
                    <a:pt x="1243978" y="1810021"/>
                  </a:lnTo>
                  <a:lnTo>
                    <a:pt x="0" y="1810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2813116"/>
              <a:ext cx="4497532" cy="1846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747"/>
                </a:lnSpc>
              </a:pPr>
              <a:r>
                <a:rPr lang="en-US" sz="2882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This program is a stopwatch built in 8086 Assembly.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628038">
            <a:off x="12621406" y="189393"/>
            <a:ext cx="2729333" cy="9923535"/>
          </a:xfrm>
          <a:prstGeom prst="rect">
            <a:avLst/>
          </a:prstGeom>
          <a:solidFill>
            <a:srgbClr val="0E5268"/>
          </a:solidFill>
        </p:spPr>
      </p:sp>
      <p:grpSp>
        <p:nvGrpSpPr>
          <p:cNvPr id="3" name="Group 3"/>
          <p:cNvGrpSpPr/>
          <p:nvPr/>
        </p:nvGrpSpPr>
        <p:grpSpPr>
          <a:xfrm>
            <a:off x="10599620" y="1683569"/>
            <a:ext cx="6659680" cy="7003524"/>
            <a:chOff x="0" y="0"/>
            <a:chExt cx="812800" cy="8547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54765"/>
            </a:xfrm>
            <a:custGeom>
              <a:avLst/>
              <a:gdLst/>
              <a:ahLst/>
              <a:cxnLst/>
              <a:rect l="l" t="t" r="r" b="b"/>
              <a:pathLst>
                <a:path w="812800" h="854765">
                  <a:moveTo>
                    <a:pt x="0" y="0"/>
                  </a:moveTo>
                  <a:lnTo>
                    <a:pt x="812800" y="0"/>
                  </a:lnTo>
                  <a:lnTo>
                    <a:pt x="812800" y="854765"/>
                  </a:lnTo>
                  <a:lnTo>
                    <a:pt x="0" y="854765"/>
                  </a:lnTo>
                  <a:close/>
                </a:path>
              </a:pathLst>
            </a:custGeom>
            <a:blipFill>
              <a:blip r:embed="rId2"/>
              <a:stretch>
                <a:fillRect l="-2581" r="-258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028700" y="1951374"/>
            <a:ext cx="8080263" cy="6735719"/>
            <a:chOff x="0" y="0"/>
            <a:chExt cx="10773685" cy="8980958"/>
          </a:xfrm>
        </p:grpSpPr>
        <p:sp>
          <p:nvSpPr>
            <p:cNvPr id="6" name="TextBox 6"/>
            <p:cNvSpPr txBox="1"/>
            <p:nvPr/>
          </p:nvSpPr>
          <p:spPr>
            <a:xfrm>
              <a:off x="915" y="-38100"/>
              <a:ext cx="10772769" cy="1022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345"/>
                </a:lnSpc>
              </a:pPr>
              <a:r>
                <a:rPr lang="en-US" sz="4881" b="1">
                  <a:solidFill>
                    <a:srgbClr val="2E2E2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 Section Explained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877719"/>
              <a:ext cx="10760010" cy="6103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53784" lvl="1" indent="-276892" algn="l">
                <a:lnSpc>
                  <a:spcPts val="4104"/>
                </a:lnSpc>
                <a:buFont typeface="Arial"/>
                <a:buChar char="•"/>
              </a:pPr>
              <a:r>
                <a:rPr lang="en-US" sz="2565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Contains all the strings displayed on screen: header, title, controls.</a:t>
              </a:r>
            </a:p>
            <a:p>
              <a:pPr marL="553784" lvl="1" indent="-276892" algn="l">
                <a:lnSpc>
                  <a:spcPts val="4104"/>
                </a:lnSpc>
                <a:buFont typeface="Arial"/>
                <a:buChar char="•"/>
              </a:pPr>
              <a:r>
                <a:rPr lang="en-US" sz="2565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Variables used:</a:t>
              </a:r>
            </a:p>
            <a:p>
              <a:pPr marL="553784" lvl="1" indent="-276892" algn="l">
                <a:lnSpc>
                  <a:spcPts val="4104"/>
                </a:lnSpc>
                <a:buFont typeface="Arial"/>
                <a:buChar char="•"/>
              </a:pPr>
              <a:r>
                <a:rPr lang="en-US" sz="2565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 start_tick: stores tick count when stopwatch starts.</a:t>
              </a:r>
            </a:p>
            <a:p>
              <a:pPr marL="553784" lvl="1" indent="-276892" algn="l">
                <a:lnSpc>
                  <a:spcPts val="4104"/>
                </a:lnSpc>
                <a:buFont typeface="Arial"/>
                <a:buChar char="•"/>
              </a:pPr>
              <a:r>
                <a:rPr lang="en-US" sz="2565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 accumulated: stores previous run time ticks.</a:t>
              </a:r>
            </a:p>
            <a:p>
              <a:pPr marL="553784" lvl="1" indent="-276892" algn="l">
                <a:lnSpc>
                  <a:spcPts val="4104"/>
                </a:lnSpc>
                <a:buFont typeface="Arial"/>
                <a:buChar char="•"/>
              </a:pPr>
              <a:r>
                <a:rPr lang="en-US" sz="2565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 current_tick: final tick value to display.</a:t>
              </a:r>
            </a:p>
            <a:p>
              <a:pPr marL="553784" lvl="1" indent="-276892" algn="l">
                <a:lnSpc>
                  <a:spcPts val="4104"/>
                </a:lnSpc>
                <a:buFont typeface="Arial"/>
                <a:buChar char="•"/>
              </a:pPr>
              <a:r>
                <a:rPr lang="en-US" sz="2565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 is_running: 0 = stopped, 1 = running.</a:t>
              </a:r>
            </a:p>
            <a:p>
              <a:pPr marL="553784" lvl="1" indent="-276892" algn="l">
                <a:lnSpc>
                  <a:spcPts val="4104"/>
                </a:lnSpc>
                <a:buFont typeface="Arial"/>
                <a:buChar char="•"/>
              </a:pPr>
              <a:r>
                <a:rPr lang="en-US" sz="2565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 time_str: buffer storing formatted time output.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83144" y="1729259"/>
            <a:ext cx="12753867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800"/>
              </a:lnSpc>
            </a:pPr>
            <a:r>
              <a:rPr lang="en-US" sz="9000" b="1">
                <a:solidFill>
                  <a:srgbClr val="2E2E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Program Initialization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071826" y="4948741"/>
            <a:ext cx="4880089" cy="979488"/>
            <a:chOff x="0" y="0"/>
            <a:chExt cx="6506785" cy="1305983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134891" cy="1025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2E2E2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36110" y="227542"/>
              <a:ext cx="4870675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</a:pPr>
              <a:r>
                <a:rPr lang="en-US" sz="2499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MOV AX, @DATA → Load data segment.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071826" y="7260934"/>
            <a:ext cx="4880089" cy="979488"/>
            <a:chOff x="0" y="0"/>
            <a:chExt cx="6506785" cy="1305983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1134891" cy="1025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2E2E2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03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36110" y="227542"/>
              <a:ext cx="4870675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</a:pPr>
              <a:r>
                <a:rPr lang="en-US" sz="2499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Cursor hidden using INT 10h AH=01h.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803201" y="4948741"/>
            <a:ext cx="4880089" cy="979488"/>
            <a:chOff x="0" y="0"/>
            <a:chExt cx="6506785" cy="130598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1134891" cy="1025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2E2E2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6110" y="227542"/>
              <a:ext cx="4870675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</a:pPr>
              <a:r>
                <a:rPr lang="en-US" sz="2499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INT 10h → Set text mode (80x25).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803201" y="7260934"/>
            <a:ext cx="5930683" cy="979488"/>
            <a:chOff x="0" y="0"/>
            <a:chExt cx="7907577" cy="130598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1379213" cy="1025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2E2E2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88334" y="227542"/>
              <a:ext cx="5919243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</a:pPr>
              <a:r>
                <a:rPr lang="en-US" sz="2499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DRAW_INTERFACE is called to print UI and timer display.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1683144" y="3790813"/>
            <a:ext cx="13050740" cy="0"/>
          </a:xfrm>
          <a:prstGeom prst="line">
            <a:avLst/>
          </a:prstGeom>
          <a:ln w="104775" cap="flat">
            <a:solidFill>
              <a:srgbClr val="BCAAD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337212" cy="3086100"/>
            <a:chOff x="0" y="0"/>
            <a:chExt cx="615562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5562" cy="812800"/>
            </a:xfrm>
            <a:custGeom>
              <a:avLst/>
              <a:gdLst/>
              <a:ahLst/>
              <a:cxnLst/>
              <a:rect l="l" t="t" r="r" b="b"/>
              <a:pathLst>
                <a:path w="615562" h="812800">
                  <a:moveTo>
                    <a:pt x="0" y="0"/>
                  </a:moveTo>
                  <a:lnTo>
                    <a:pt x="615562" y="0"/>
                  </a:lnTo>
                  <a:lnTo>
                    <a:pt x="61556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2C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15562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861546" y="1819289"/>
            <a:ext cx="10634768" cy="132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20"/>
              </a:lnSpc>
            </a:pPr>
            <a:r>
              <a:rPr lang="en-US" sz="9291" b="1" dirty="0">
                <a:solidFill>
                  <a:srgbClr val="2E2E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Main Loop Flow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079877" y="4606057"/>
            <a:ext cx="8540721" cy="451856"/>
            <a:chOff x="0" y="0"/>
            <a:chExt cx="11387627" cy="602474"/>
          </a:xfrm>
        </p:grpSpPr>
        <p:sp>
          <p:nvSpPr>
            <p:cNvPr id="7" name="TextBox 7"/>
            <p:cNvSpPr txBox="1"/>
            <p:nvPr/>
          </p:nvSpPr>
          <p:spPr>
            <a:xfrm>
              <a:off x="983456" y="70657"/>
              <a:ext cx="10404172" cy="4421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64"/>
                </a:lnSpc>
              </a:pPr>
              <a:r>
                <a:rPr lang="en-US" sz="2126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Program keeps checking for keypress using INT 16h AH=01h.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602474" cy="602474"/>
            </a:xfrm>
            <a:custGeom>
              <a:avLst/>
              <a:gdLst/>
              <a:ahLst/>
              <a:cxnLst/>
              <a:rect l="l" t="t" r="r" b="b"/>
              <a:pathLst>
                <a:path w="602474" h="602474">
                  <a:moveTo>
                    <a:pt x="0" y="0"/>
                  </a:moveTo>
                  <a:lnTo>
                    <a:pt x="602474" y="0"/>
                  </a:lnTo>
                  <a:lnTo>
                    <a:pt x="602474" y="602474"/>
                  </a:lnTo>
                  <a:lnTo>
                    <a:pt x="0" y="60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5079877" y="5667202"/>
            <a:ext cx="8236307" cy="435751"/>
            <a:chOff x="0" y="0"/>
            <a:chExt cx="10981743" cy="581001"/>
          </a:xfrm>
        </p:grpSpPr>
        <p:sp>
          <p:nvSpPr>
            <p:cNvPr id="10" name="TextBox 10"/>
            <p:cNvSpPr txBox="1"/>
            <p:nvPr/>
          </p:nvSpPr>
          <p:spPr>
            <a:xfrm>
              <a:off x="948403" y="94845"/>
              <a:ext cx="10033340" cy="4528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6"/>
                </a:lnSpc>
              </a:pPr>
              <a:r>
                <a:rPr lang="en-US" sz="2159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If a key is pressed → HANDLE_INPUT.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581001" cy="581001"/>
            </a:xfrm>
            <a:custGeom>
              <a:avLst/>
              <a:gdLst/>
              <a:ahLst/>
              <a:cxnLst/>
              <a:rect l="l" t="t" r="r" b="b"/>
              <a:pathLst>
                <a:path w="581001" h="581001">
                  <a:moveTo>
                    <a:pt x="0" y="0"/>
                  </a:moveTo>
                  <a:lnTo>
                    <a:pt x="581001" y="0"/>
                  </a:lnTo>
                  <a:lnTo>
                    <a:pt x="581001" y="581001"/>
                  </a:lnTo>
                  <a:lnTo>
                    <a:pt x="0" y="58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5079877" y="6728346"/>
            <a:ext cx="8236307" cy="435751"/>
            <a:chOff x="0" y="0"/>
            <a:chExt cx="10981743" cy="581001"/>
          </a:xfrm>
        </p:grpSpPr>
        <p:sp>
          <p:nvSpPr>
            <p:cNvPr id="13" name="TextBox 13"/>
            <p:cNvSpPr txBox="1"/>
            <p:nvPr/>
          </p:nvSpPr>
          <p:spPr>
            <a:xfrm>
              <a:off x="948403" y="54539"/>
              <a:ext cx="10033340" cy="4528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6"/>
                </a:lnSpc>
              </a:pPr>
              <a:r>
                <a:rPr lang="en-US" sz="2159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If no key → TIMER_SECTION updates timer.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581001" cy="581001"/>
            </a:xfrm>
            <a:custGeom>
              <a:avLst/>
              <a:gdLst/>
              <a:ahLst/>
              <a:cxnLst/>
              <a:rect l="l" t="t" r="r" b="b"/>
              <a:pathLst>
                <a:path w="581001" h="581001">
                  <a:moveTo>
                    <a:pt x="0" y="0"/>
                  </a:moveTo>
                  <a:lnTo>
                    <a:pt x="581001" y="0"/>
                  </a:lnTo>
                  <a:lnTo>
                    <a:pt x="581001" y="581001"/>
                  </a:lnTo>
                  <a:lnTo>
                    <a:pt x="0" y="58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5079877" y="7789491"/>
            <a:ext cx="8236307" cy="435751"/>
            <a:chOff x="0" y="0"/>
            <a:chExt cx="10981743" cy="581001"/>
          </a:xfrm>
        </p:grpSpPr>
        <p:sp>
          <p:nvSpPr>
            <p:cNvPr id="16" name="TextBox 16"/>
            <p:cNvSpPr txBox="1"/>
            <p:nvPr/>
          </p:nvSpPr>
          <p:spPr>
            <a:xfrm>
              <a:off x="948403" y="54539"/>
              <a:ext cx="10033340" cy="4528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6"/>
                </a:lnSpc>
              </a:pPr>
              <a:r>
                <a:rPr lang="en-US" sz="2159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small delay loop controls update speed.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581001" cy="581001"/>
            </a:xfrm>
            <a:custGeom>
              <a:avLst/>
              <a:gdLst/>
              <a:ahLst/>
              <a:cxnLst/>
              <a:rect l="l" t="t" r="r" b="b"/>
              <a:pathLst>
                <a:path w="581001" h="581001">
                  <a:moveTo>
                    <a:pt x="0" y="0"/>
                  </a:moveTo>
                  <a:lnTo>
                    <a:pt x="581001" y="0"/>
                  </a:lnTo>
                  <a:lnTo>
                    <a:pt x="581001" y="581001"/>
                  </a:lnTo>
                  <a:lnTo>
                    <a:pt x="0" y="58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14020648" y="2819587"/>
            <a:ext cx="537813" cy="237616"/>
          </a:xfrm>
          <a:custGeom>
            <a:avLst/>
            <a:gdLst/>
            <a:ahLst/>
            <a:cxnLst/>
            <a:rect l="l" t="t" r="r" b="b"/>
            <a:pathLst>
              <a:path w="537813" h="237616">
                <a:moveTo>
                  <a:pt x="0" y="0"/>
                </a:moveTo>
                <a:lnTo>
                  <a:pt x="537813" y="0"/>
                </a:lnTo>
                <a:lnTo>
                  <a:pt x="537813" y="237616"/>
                </a:lnTo>
                <a:lnTo>
                  <a:pt x="0" y="237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AutoShape 19"/>
          <p:cNvSpPr/>
          <p:nvPr/>
        </p:nvSpPr>
        <p:spPr>
          <a:xfrm>
            <a:off x="5079877" y="4275489"/>
            <a:ext cx="7560733" cy="0"/>
          </a:xfrm>
          <a:prstGeom prst="line">
            <a:avLst/>
          </a:prstGeom>
          <a:ln w="9525" cap="rnd">
            <a:solidFill>
              <a:srgbClr val="FFC2C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5079877" y="5336634"/>
            <a:ext cx="7560733" cy="0"/>
          </a:xfrm>
          <a:prstGeom prst="line">
            <a:avLst/>
          </a:prstGeom>
          <a:ln w="9525" cap="rnd">
            <a:solidFill>
              <a:srgbClr val="FFC2C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5079877" y="6397778"/>
            <a:ext cx="7560733" cy="0"/>
          </a:xfrm>
          <a:prstGeom prst="line">
            <a:avLst/>
          </a:prstGeom>
          <a:ln w="9525" cap="rnd">
            <a:solidFill>
              <a:srgbClr val="FFC2C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5079877" y="7458923"/>
            <a:ext cx="7560733" cy="0"/>
          </a:xfrm>
          <a:prstGeom prst="line">
            <a:avLst/>
          </a:prstGeom>
          <a:ln w="9525" cap="rnd">
            <a:solidFill>
              <a:srgbClr val="FFC2C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6997728" y="8486730"/>
            <a:ext cx="7560733" cy="0"/>
          </a:xfrm>
          <a:prstGeom prst="line">
            <a:avLst/>
          </a:prstGeom>
          <a:ln w="9525" cap="rnd">
            <a:solidFill>
              <a:srgbClr val="FFC2CA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92014" y="5143500"/>
            <a:ext cx="1590818" cy="1590818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592014" y="3552682"/>
            <a:ext cx="1590818" cy="1590818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3001196" y="5143500"/>
            <a:ext cx="1590818" cy="1590818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182832" y="6734318"/>
            <a:ext cx="1590818" cy="1590818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6182832" y="5143500"/>
            <a:ext cx="1590818" cy="1590818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4592014" y="6734318"/>
            <a:ext cx="1590818" cy="1590818"/>
            <a:chOff x="0" y="0"/>
            <a:chExt cx="1913890" cy="19138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182832" y="3552682"/>
            <a:ext cx="1590818" cy="1590818"/>
            <a:chOff x="0" y="0"/>
            <a:chExt cx="1913890" cy="19138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3001196" y="6734318"/>
            <a:ext cx="1590818" cy="1590818"/>
            <a:chOff x="0" y="0"/>
            <a:chExt cx="1913890" cy="19138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6182832" y="1961864"/>
            <a:ext cx="1590818" cy="1590818"/>
            <a:chOff x="0" y="0"/>
            <a:chExt cx="1913890" cy="191389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1410378" y="6734318"/>
            <a:ext cx="1590818" cy="1590818"/>
            <a:chOff x="0" y="0"/>
            <a:chExt cx="1913890" cy="191389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4592014" y="3552682"/>
            <a:ext cx="1590818" cy="1590818"/>
            <a:chOff x="0" y="0"/>
            <a:chExt cx="1913890" cy="19138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028700" y="1028702"/>
            <a:ext cx="11163300" cy="2523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072"/>
              </a:lnSpc>
            </a:pPr>
            <a:r>
              <a:rPr lang="en-US" sz="8393" b="1" dirty="0">
                <a:solidFill>
                  <a:srgbClr val="2E2E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Input Handling (HANDLE_INPUT)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5245802"/>
            <a:ext cx="14381170" cy="3939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b="1" dirty="0"/>
              <a:t>INT 16h AH=00h reads the key pressed.</a:t>
            </a:r>
          </a:p>
          <a:p>
            <a:br>
              <a:rPr lang="en-US" sz="3200" dirty="0"/>
            </a:br>
            <a:r>
              <a:rPr lang="en-US" sz="3200" dirty="0"/>
              <a:t>Keys: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Q/q → Quit program.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SPACE → Toggle start/stop state.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R/r → Reset timer.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r>
              <a:rPr lang="en-US" sz="3200" b="1" dirty="0"/>
              <a:t>If no matching key, it returns to timer update</a:t>
            </a:r>
            <a:r>
              <a:rPr lang="en-US" b="1" dirty="0"/>
              <a:t>.</a:t>
            </a:r>
          </a:p>
        </p:txBody>
      </p:sp>
      <p:sp>
        <p:nvSpPr>
          <p:cNvPr id="26" name="AutoShape 26"/>
          <p:cNvSpPr/>
          <p:nvPr/>
        </p:nvSpPr>
        <p:spPr>
          <a:xfrm>
            <a:off x="1028700" y="9563100"/>
            <a:ext cx="9269393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1028700" y="4864960"/>
            <a:ext cx="9269393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3376" y="688960"/>
            <a:ext cx="14716217" cy="9242927"/>
            <a:chOff x="0" y="0"/>
            <a:chExt cx="19621623" cy="12323903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9621623" cy="31946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410"/>
                </a:lnSpc>
              </a:pPr>
              <a:r>
                <a:rPr lang="en-US" sz="7842" b="1">
                  <a:solidFill>
                    <a:srgbClr val="2E2E2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Start/Stop (TOGGLE_ROUTINE)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914745"/>
              <a:ext cx="13895985" cy="6409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01874" lvl="1" indent="-350937" algn="l">
                <a:lnSpc>
                  <a:spcPts val="6501"/>
                </a:lnSpc>
                <a:buFont typeface="Arial"/>
                <a:buChar char="•"/>
              </a:pPr>
              <a:r>
                <a:rPr lang="en-US" sz="3250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is_running is flipped (0→1 or 1→0).</a:t>
              </a:r>
            </a:p>
            <a:p>
              <a:pPr marL="701874" lvl="1" indent="-350937" algn="l">
                <a:lnSpc>
                  <a:spcPts val="6501"/>
                </a:lnSpc>
                <a:buFont typeface="Arial"/>
                <a:buChar char="•"/>
              </a:pPr>
              <a:r>
                <a:rPr lang="en-US" sz="3250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If starting: store current BIOS tick (DX) into start_tick.</a:t>
              </a:r>
            </a:p>
            <a:p>
              <a:pPr marL="701874" lvl="1" indent="-350937" algn="l">
                <a:lnSpc>
                  <a:spcPts val="6501"/>
                </a:lnSpc>
                <a:buFont typeface="Arial"/>
                <a:buChar char="•"/>
              </a:pPr>
              <a:r>
                <a:rPr lang="en-US" sz="3250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If stopping: get current tick, subtract start_tick, add to accumulated.</a:t>
              </a:r>
            </a:p>
            <a:p>
              <a:pPr marL="701874" lvl="1" indent="-350937" algn="l">
                <a:lnSpc>
                  <a:spcPts val="6501"/>
                </a:lnSpc>
                <a:buFont typeface="Arial"/>
                <a:buChar char="•"/>
              </a:pPr>
              <a:r>
                <a:rPr lang="en-US" sz="3250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Status text on screen is updated accordingly.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4800" y="1409700"/>
            <a:ext cx="7188914" cy="8764322"/>
            <a:chOff x="0" y="0"/>
            <a:chExt cx="9585219" cy="11685763"/>
          </a:xfrm>
        </p:grpSpPr>
        <p:grpSp>
          <p:nvGrpSpPr>
            <p:cNvPr id="6" name="Group 6"/>
            <p:cNvGrpSpPr/>
            <p:nvPr/>
          </p:nvGrpSpPr>
          <p:grpSpPr>
            <a:xfrm rot="-2700000">
              <a:off x="-562750" y="7790982"/>
              <a:ext cx="7429400" cy="1485661"/>
              <a:chOff x="0" y="0"/>
              <a:chExt cx="31900754" cy="637921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1900754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31900754" h="6379210">
                    <a:moveTo>
                      <a:pt x="25204906" y="0"/>
                    </a:moveTo>
                    <a:lnTo>
                      <a:pt x="8024961" y="0"/>
                    </a:lnTo>
                    <a:lnTo>
                      <a:pt x="6736517" y="7620"/>
                    </a:lnTo>
                    <a:lnTo>
                      <a:pt x="0" y="6379210"/>
                    </a:lnTo>
                    <a:lnTo>
                      <a:pt x="25254845" y="6379210"/>
                    </a:lnTo>
                    <a:lnTo>
                      <a:pt x="3190075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8" name="Group 8"/>
            <p:cNvGrpSpPr/>
            <p:nvPr/>
          </p:nvGrpSpPr>
          <p:grpSpPr>
            <a:xfrm rot="-2700000">
              <a:off x="3734095" y="6248668"/>
              <a:ext cx="6125442" cy="1485661"/>
              <a:chOff x="0" y="0"/>
              <a:chExt cx="26301750" cy="637921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630175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26301750" h="637921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 rot="-2700000">
              <a:off x="3831566" y="1948101"/>
              <a:ext cx="6125442" cy="1485661"/>
              <a:chOff x="0" y="0"/>
              <a:chExt cx="26301750" cy="637921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6301750" cy="6379210"/>
              </a:xfrm>
              <a:custGeom>
                <a:avLst/>
                <a:gdLst/>
                <a:ahLst/>
                <a:cxnLst/>
                <a:rect l="l" t="t" r="r" b="b"/>
                <a:pathLst>
                  <a:path w="26301750" h="637921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09201" y="5124450"/>
            <a:ext cx="6120625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7971642" y="3089876"/>
            <a:ext cx="9790589" cy="5477122"/>
          </a:xfrm>
          <a:custGeom>
            <a:avLst/>
            <a:gdLst/>
            <a:ahLst/>
            <a:cxnLst/>
            <a:rect l="l" t="t" r="r" b="b"/>
            <a:pathLst>
              <a:path w="9790589" h="5477122">
                <a:moveTo>
                  <a:pt x="0" y="0"/>
                </a:moveTo>
                <a:lnTo>
                  <a:pt x="9790588" y="0"/>
                </a:lnTo>
                <a:lnTo>
                  <a:pt x="9790588" y="5477122"/>
                </a:lnTo>
                <a:lnTo>
                  <a:pt x="0" y="5477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491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84300" y="2408236"/>
            <a:ext cx="5122944" cy="2314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25"/>
              </a:lnSpc>
            </a:pPr>
            <a:r>
              <a:rPr lang="en-US" sz="8500" b="1">
                <a:solidFill>
                  <a:srgbClr val="2E2E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Reset Routine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4367" y="5771287"/>
            <a:ext cx="6768107" cy="2719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17" lvl="1" indent="-337808" algn="l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2E2E2E"/>
                </a:solidFill>
                <a:latin typeface="Canva Sans"/>
                <a:ea typeface="Canva Sans"/>
                <a:cs typeface="Canva Sans"/>
                <a:sym typeface="Canva Sans"/>
              </a:rPr>
              <a:t>is_running set to 0 (stopped).</a:t>
            </a:r>
          </a:p>
          <a:p>
            <a:pPr marL="675617" lvl="1" indent="-337808" algn="l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2E2E2E"/>
                </a:solidFill>
                <a:latin typeface="Canva Sans"/>
                <a:ea typeface="Canva Sans"/>
                <a:cs typeface="Canva Sans"/>
                <a:sym typeface="Canva Sans"/>
              </a:rPr>
              <a:t>accumulated set to 0.</a:t>
            </a:r>
          </a:p>
          <a:p>
            <a:pPr marL="675617" lvl="1" indent="-337808" algn="l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2E2E2E"/>
                </a:solidFill>
                <a:latin typeface="Canva Sans"/>
                <a:ea typeface="Canva Sans"/>
                <a:cs typeface="Canva Sans"/>
                <a:sym typeface="Canva Sans"/>
              </a:rPr>
              <a:t>start_tick set to 0.</a:t>
            </a:r>
          </a:p>
          <a:p>
            <a:pPr marL="675617" lvl="1" indent="-337808" algn="l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2E2E2E"/>
                </a:solidFill>
                <a:latin typeface="Canva Sans"/>
                <a:ea typeface="Canva Sans"/>
                <a:cs typeface="Canva Sans"/>
                <a:sym typeface="Canva Sans"/>
              </a:rPr>
              <a:t>DRAW_ZEROS prints 00:00:00 on the screen.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id="5" name="Group 5"/>
          <p:cNvGrpSpPr/>
          <p:nvPr/>
        </p:nvGrpSpPr>
        <p:grpSpPr>
          <a:xfrm>
            <a:off x="0" y="6605314"/>
            <a:ext cx="3687586" cy="3681686"/>
            <a:chOff x="0" y="0"/>
            <a:chExt cx="6350000" cy="6339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2761470" y="4421206"/>
            <a:ext cx="4837114" cy="4837094"/>
            <a:chOff x="0" y="0"/>
            <a:chExt cx="6350000" cy="63499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1542" r="-21542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-7802211" y="1213787"/>
            <a:ext cx="28097175" cy="7053914"/>
            <a:chOff x="0" y="0"/>
            <a:chExt cx="37462900" cy="9434831"/>
          </a:xfrm>
        </p:grpSpPr>
        <p:sp>
          <p:nvSpPr>
            <p:cNvPr id="10" name="TextBox 10"/>
            <p:cNvSpPr txBox="1"/>
            <p:nvPr/>
          </p:nvSpPr>
          <p:spPr>
            <a:xfrm>
              <a:off x="12622324" y="66675"/>
              <a:ext cx="24636314" cy="30870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7900"/>
                </a:lnSpc>
              </a:pPr>
              <a:r>
                <a:rPr lang="en-US" sz="15565" b="1" dirty="0">
                  <a:solidFill>
                    <a:srgbClr val="2E2E2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TIMER_SECTION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622324" y="5571356"/>
              <a:ext cx="22606220" cy="3863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23103" lvl="1" indent="-311551" algn="l">
                <a:lnSpc>
                  <a:spcPts val="3318"/>
                </a:lnSpc>
                <a:buFont typeface="Arial"/>
                <a:buChar char="•"/>
              </a:pPr>
              <a:r>
                <a:rPr lang="en-US" sz="2886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If stopwatch is running:</a:t>
              </a:r>
            </a:p>
            <a:p>
              <a:pPr marL="623103" lvl="1" indent="-311551" algn="l">
                <a:lnSpc>
                  <a:spcPts val="3318"/>
                </a:lnSpc>
                <a:buFont typeface="Arial"/>
                <a:buChar char="•"/>
              </a:pPr>
              <a:r>
                <a:rPr lang="en-US" sz="2886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 Get current tick using INT 1Ah.</a:t>
              </a:r>
            </a:p>
            <a:p>
              <a:pPr marL="623103" lvl="1" indent="-311551" algn="l">
                <a:lnSpc>
                  <a:spcPts val="3318"/>
                </a:lnSpc>
                <a:buFont typeface="Arial"/>
                <a:buChar char="•"/>
              </a:pPr>
              <a:r>
                <a:rPr lang="en-US" sz="2886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 Subtract start_tick and add accumulated.</a:t>
              </a:r>
            </a:p>
            <a:p>
              <a:pPr marL="623103" lvl="1" indent="-311551" algn="l">
                <a:lnSpc>
                  <a:spcPts val="3318"/>
                </a:lnSpc>
                <a:buFont typeface="Arial"/>
                <a:buChar char="•"/>
              </a:pPr>
              <a:r>
                <a:rPr lang="en-US" sz="2886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 Store result in current_tick.</a:t>
              </a:r>
            </a:p>
            <a:p>
              <a:pPr marL="623103" lvl="1" indent="-311551" algn="l">
                <a:lnSpc>
                  <a:spcPts val="3318"/>
                </a:lnSpc>
                <a:buFont typeface="Arial"/>
                <a:buChar char="•"/>
              </a:pPr>
              <a:r>
                <a:rPr lang="en-US" sz="2886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 Call TICKS_TO_TIME to convert ticks to MM:SS:HH.</a:t>
              </a:r>
            </a:p>
            <a:p>
              <a:pPr marL="623103" lvl="1" indent="-311551" algn="l">
                <a:lnSpc>
                  <a:spcPts val="3318"/>
                </a:lnSpc>
                <a:buFont typeface="Arial"/>
                <a:buChar char="•"/>
              </a:pPr>
              <a:r>
                <a:rPr lang="en-US" sz="2886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 Call DRAW_TIME to print time.</a:t>
              </a:r>
            </a:p>
            <a:p>
              <a:pPr marL="623103" lvl="1" indent="-311551" algn="l">
                <a:lnSpc>
                  <a:spcPts val="3318"/>
                </a:lnSpc>
                <a:buFont typeface="Arial"/>
                <a:buChar char="•"/>
              </a:pPr>
              <a:r>
                <a:rPr lang="en-US" sz="2886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If not running: skip time update.</a:t>
              </a: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0" y="4058029"/>
              <a:ext cx="37462900" cy="331610"/>
            </a:xfrm>
            <a:prstGeom prst="rect">
              <a:avLst/>
            </a:pr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8677" y="4459481"/>
            <a:ext cx="4934383" cy="2960630"/>
            <a:chOff x="0" y="0"/>
            <a:chExt cx="6350000" cy="381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0" y="1905000"/>
                  </a:moveTo>
                  <a:cubicBezTo>
                    <a:pt x="0" y="853440"/>
                    <a:pt x="853440" y="0"/>
                    <a:pt x="1905000" y="0"/>
                  </a:cubicBezTo>
                  <a:lnTo>
                    <a:pt x="4445000" y="0"/>
                  </a:lnTo>
                  <a:cubicBezTo>
                    <a:pt x="5496560" y="0"/>
                    <a:pt x="6350000" y="853440"/>
                    <a:pt x="6350000" y="1905000"/>
                  </a:cubicBezTo>
                  <a:cubicBezTo>
                    <a:pt x="6350000" y="2956560"/>
                    <a:pt x="5496560" y="3810000"/>
                    <a:pt x="4445000" y="3810000"/>
                  </a:cubicBezTo>
                  <a:lnTo>
                    <a:pt x="1905000" y="3810000"/>
                  </a:lnTo>
                  <a:cubicBezTo>
                    <a:pt x="853440" y="3810000"/>
                    <a:pt x="0" y="2956560"/>
                    <a:pt x="0" y="1905000"/>
                  </a:cubicBezTo>
                  <a:close/>
                </a:path>
              </a:pathLst>
            </a:custGeom>
            <a:blipFill>
              <a:blip r:embed="rId2"/>
              <a:stretch>
                <a:fillRect l="-4939" r="-493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51797" y="4459481"/>
            <a:ext cx="4934383" cy="2960630"/>
            <a:chOff x="0" y="0"/>
            <a:chExt cx="6350000" cy="381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0" y="1905000"/>
                  </a:moveTo>
                  <a:cubicBezTo>
                    <a:pt x="0" y="853440"/>
                    <a:pt x="853440" y="0"/>
                    <a:pt x="1905000" y="0"/>
                  </a:cubicBezTo>
                  <a:lnTo>
                    <a:pt x="4445000" y="0"/>
                  </a:lnTo>
                  <a:cubicBezTo>
                    <a:pt x="5496560" y="0"/>
                    <a:pt x="6350000" y="853440"/>
                    <a:pt x="6350000" y="1905000"/>
                  </a:cubicBezTo>
                  <a:cubicBezTo>
                    <a:pt x="6350000" y="2956560"/>
                    <a:pt x="5496560" y="3810000"/>
                    <a:pt x="4445000" y="3810000"/>
                  </a:cubicBezTo>
                  <a:lnTo>
                    <a:pt x="1905000" y="3810000"/>
                  </a:lnTo>
                  <a:cubicBezTo>
                    <a:pt x="853440" y="3810000"/>
                    <a:pt x="0" y="2956560"/>
                    <a:pt x="0" y="1905000"/>
                  </a:cubicBezTo>
                  <a:close/>
                </a:path>
              </a:pathLst>
            </a:custGeom>
            <a:blipFill>
              <a:blip r:embed="rId3"/>
              <a:stretch>
                <a:fillRect l="-12240" r="-1224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324917" y="4459481"/>
            <a:ext cx="4934383" cy="2960630"/>
            <a:chOff x="0" y="0"/>
            <a:chExt cx="6350000" cy="381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0" y="1905000"/>
                  </a:moveTo>
                  <a:cubicBezTo>
                    <a:pt x="0" y="853440"/>
                    <a:pt x="853440" y="0"/>
                    <a:pt x="1905000" y="0"/>
                  </a:cubicBezTo>
                  <a:lnTo>
                    <a:pt x="4445000" y="0"/>
                  </a:lnTo>
                  <a:cubicBezTo>
                    <a:pt x="5496560" y="0"/>
                    <a:pt x="6350000" y="853440"/>
                    <a:pt x="6350000" y="1905000"/>
                  </a:cubicBezTo>
                  <a:cubicBezTo>
                    <a:pt x="6350000" y="2956560"/>
                    <a:pt x="5496560" y="3810000"/>
                    <a:pt x="4445000" y="3810000"/>
                  </a:cubicBezTo>
                  <a:lnTo>
                    <a:pt x="1905000" y="3810000"/>
                  </a:lnTo>
                  <a:cubicBezTo>
                    <a:pt x="853440" y="3810000"/>
                    <a:pt x="0" y="2956560"/>
                    <a:pt x="0" y="1905000"/>
                  </a:cubicBezTo>
                  <a:close/>
                </a:path>
              </a:pathLst>
            </a:custGeom>
            <a:blipFill>
              <a:blip r:embed="rId4"/>
              <a:stretch>
                <a:fillRect l="-23307" r="-18704" b="-7514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645897" y="2001037"/>
            <a:ext cx="10996207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00"/>
              </a:lnSpc>
              <a:spcBef>
                <a:spcPct val="0"/>
              </a:spcBef>
            </a:pPr>
            <a:r>
              <a:rPr lang="en-US" sz="7500" b="1">
                <a:solidFill>
                  <a:srgbClr val="2E2E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Drawing Output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994748"/>
            <a:ext cx="4834338" cy="125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20"/>
              </a:lnSpc>
              <a:spcBef>
                <a:spcPct val="0"/>
              </a:spcBef>
            </a:pPr>
            <a:r>
              <a:rPr lang="en-US" sz="2553" u="none">
                <a:solidFill>
                  <a:srgbClr val="2E2E2E"/>
                </a:solidFill>
                <a:latin typeface="Canva Sans"/>
                <a:ea typeface="Canva Sans"/>
                <a:cs typeface="Canva Sans"/>
                <a:sym typeface="Canva Sans"/>
              </a:rPr>
              <a:t>DRAW_INTERFACE prints header, title, controls, initial time.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26831" y="7994748"/>
            <a:ext cx="4834338" cy="834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20"/>
              </a:lnSpc>
              <a:spcBef>
                <a:spcPct val="0"/>
              </a:spcBef>
            </a:pPr>
            <a:r>
              <a:rPr lang="en-US" sz="2553" u="none">
                <a:solidFill>
                  <a:srgbClr val="2E2E2E"/>
                </a:solidFill>
                <a:latin typeface="Canva Sans"/>
                <a:ea typeface="Canva Sans"/>
                <a:cs typeface="Canva Sans"/>
                <a:sym typeface="Canva Sans"/>
              </a:rPr>
              <a:t>DRAW_ZEROS prints 00:00:00 when resetting.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24962" y="7994748"/>
            <a:ext cx="4834338" cy="834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20"/>
              </a:lnSpc>
              <a:spcBef>
                <a:spcPct val="0"/>
              </a:spcBef>
            </a:pPr>
            <a:r>
              <a:rPr lang="en-US" sz="2553" u="none">
                <a:solidFill>
                  <a:srgbClr val="2E2E2E"/>
                </a:solidFill>
                <a:latin typeface="Canva Sans"/>
                <a:ea typeface="Canva Sans"/>
                <a:cs typeface="Canva Sans"/>
                <a:sym typeface="Canva Sans"/>
              </a:rPr>
              <a:t>DRAW_TIME prints time_str at the correct screen position.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2812529" y="1028700"/>
            <a:ext cx="1056615" cy="2161872"/>
          </a:xfrm>
          <a:custGeom>
            <a:avLst/>
            <a:gdLst/>
            <a:ahLst/>
            <a:cxnLst/>
            <a:rect l="l" t="t" r="r" b="b"/>
            <a:pathLst>
              <a:path w="1056615" h="2161872">
                <a:moveTo>
                  <a:pt x="0" y="0"/>
                </a:moveTo>
                <a:lnTo>
                  <a:pt x="1056615" y="0"/>
                </a:lnTo>
                <a:lnTo>
                  <a:pt x="1056615" y="2161872"/>
                </a:lnTo>
                <a:lnTo>
                  <a:pt x="0" y="21618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3869" y="1409037"/>
            <a:ext cx="17123740" cy="1071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2"/>
              </a:lnSpc>
            </a:pPr>
            <a:r>
              <a:rPr lang="en-US" sz="7001" b="1" strike="noStrike">
                <a:solidFill>
                  <a:srgbClr val="2E2E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TICKS_TO_TIME (Simple Explanation)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77839" y="4178354"/>
            <a:ext cx="3628899" cy="1178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2E2E2E"/>
                </a:solidFill>
                <a:latin typeface="Canva Sans"/>
                <a:ea typeface="Canva Sans"/>
                <a:cs typeface="Canva Sans"/>
                <a:sym typeface="Canva Sans"/>
              </a:rPr>
              <a:t>Takes current_tick value and converts it to: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52825" y="6815285"/>
            <a:ext cx="3416654" cy="39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2E2E2E"/>
                </a:solidFill>
                <a:latin typeface="Canva Sans"/>
                <a:ea typeface="Canva Sans"/>
                <a:cs typeface="Canva Sans"/>
                <a:sym typeface="Canva Sans"/>
              </a:rPr>
              <a:t>- Hundredths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39964" y="4613220"/>
            <a:ext cx="3294369" cy="39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2E2E2E"/>
                </a:solidFill>
                <a:latin typeface="Canva Sans"/>
                <a:ea typeface="Canva Sans"/>
                <a:cs typeface="Canva Sans"/>
                <a:sym typeface="Canva Sans"/>
              </a:rPr>
              <a:t>- Minutes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39964" y="6352510"/>
            <a:ext cx="3532356" cy="156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2E2E2E"/>
                </a:solidFill>
                <a:latin typeface="Canva Sans"/>
                <a:ea typeface="Canva Sans"/>
                <a:cs typeface="Canva Sans"/>
                <a:sym typeface="Canva Sans"/>
              </a:rPr>
              <a:t>Uses division by constants to convert from BIOS ticks to time.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16066" y="4653671"/>
            <a:ext cx="3550294" cy="39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2E2E2E"/>
                </a:solidFill>
                <a:latin typeface="Canva Sans"/>
                <a:ea typeface="Canva Sans"/>
                <a:cs typeface="Canva Sans"/>
                <a:sym typeface="Canva Sans"/>
              </a:rPr>
              <a:t>- Seconds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61764" y="6743035"/>
            <a:ext cx="3004596" cy="788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2E2E2E"/>
                </a:solidFill>
                <a:latin typeface="Canva Sans"/>
                <a:ea typeface="Canva Sans"/>
                <a:cs typeface="Canva Sans"/>
                <a:sym typeface="Canva Sans"/>
              </a:rPr>
              <a:t>Updates the time_str buffer.</a:t>
            </a:r>
          </a:p>
        </p:txBody>
      </p:sp>
      <p:sp>
        <p:nvSpPr>
          <p:cNvPr id="9" name="AutoShape 9"/>
          <p:cNvSpPr/>
          <p:nvPr/>
        </p:nvSpPr>
        <p:spPr>
          <a:xfrm>
            <a:off x="3077839" y="5735415"/>
            <a:ext cx="10488521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H="1" flipV="1">
            <a:off x="6969479" y="3670943"/>
            <a:ext cx="0" cy="499323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flipH="1" flipV="1">
            <a:off x="10472320" y="3670943"/>
            <a:ext cx="89444" cy="499323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1212" y="1168889"/>
            <a:ext cx="7484826" cy="8325569"/>
            <a:chOff x="687070" y="247650"/>
            <a:chExt cx="11148060" cy="12400280"/>
          </a:xfrm>
        </p:grpSpPr>
        <p:sp>
          <p:nvSpPr>
            <p:cNvPr id="3" name="Freeform 3"/>
            <p:cNvSpPr/>
            <p:nvPr/>
          </p:nvSpPr>
          <p:spPr>
            <a:xfrm>
              <a:off x="366333" y="5962"/>
              <a:ext cx="10331959" cy="12110687"/>
            </a:xfrm>
            <a:custGeom>
              <a:avLst/>
              <a:gdLst/>
              <a:ahLst/>
              <a:cxnLst/>
              <a:rect l="l" t="t" r="r" b="b"/>
              <a:pathLst>
                <a:path w="10331959" h="12110687">
                  <a:moveTo>
                    <a:pt x="8848787" y="1491368"/>
                  </a:moveTo>
                  <a:cubicBezTo>
                    <a:pt x="8406827" y="966858"/>
                    <a:pt x="7868347" y="502038"/>
                    <a:pt x="7224457" y="246768"/>
                  </a:cubicBezTo>
                  <a:cubicBezTo>
                    <a:pt x="6765987" y="65158"/>
                    <a:pt x="6266877" y="-5962"/>
                    <a:pt x="5772847" y="388"/>
                  </a:cubicBezTo>
                  <a:cubicBezTo>
                    <a:pt x="3687507" y="30868"/>
                    <a:pt x="1791397" y="1485018"/>
                    <a:pt x="922717" y="3340488"/>
                  </a:cubicBezTo>
                  <a:cubicBezTo>
                    <a:pt x="160717" y="4971168"/>
                    <a:pt x="-366333" y="7786758"/>
                    <a:pt x="314387" y="9451728"/>
                  </a:cubicBezTo>
                  <a:cubicBezTo>
                    <a:pt x="993837" y="11116698"/>
                    <a:pt x="2133027" y="11999348"/>
                    <a:pt x="3881817" y="12075548"/>
                  </a:cubicBezTo>
                  <a:cubicBezTo>
                    <a:pt x="6635177" y="12394318"/>
                    <a:pt x="8721787" y="10496938"/>
                    <a:pt x="9751757" y="8303648"/>
                  </a:cubicBezTo>
                  <a:cubicBezTo>
                    <a:pt x="10781728" y="6110358"/>
                    <a:pt x="10415967" y="3355728"/>
                    <a:pt x="8848787" y="1491368"/>
                  </a:cubicBezTo>
                  <a:close/>
                </a:path>
              </a:pathLst>
            </a:custGeom>
            <a:blipFill>
              <a:blip r:embed="rId2"/>
              <a:stretch>
                <a:fillRect l="-1957" t="2044" r="-15257" b="-2044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-2899698">
            <a:off x="14414311" y="5895624"/>
            <a:ext cx="3008329" cy="4035563"/>
          </a:xfrm>
          <a:custGeom>
            <a:avLst/>
            <a:gdLst/>
            <a:ahLst/>
            <a:cxnLst/>
            <a:rect l="l" t="t" r="r" b="b"/>
            <a:pathLst>
              <a:path w="3008329" h="4035563">
                <a:moveTo>
                  <a:pt x="0" y="0"/>
                </a:moveTo>
                <a:lnTo>
                  <a:pt x="3008329" y="0"/>
                </a:lnTo>
                <a:lnTo>
                  <a:pt x="3008329" y="4035564"/>
                </a:lnTo>
                <a:lnTo>
                  <a:pt x="0" y="40355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309992" y="1536159"/>
            <a:ext cx="11410262" cy="7566781"/>
            <a:chOff x="0" y="0"/>
            <a:chExt cx="15213683" cy="10089041"/>
          </a:xfrm>
        </p:grpSpPr>
        <p:sp>
          <p:nvSpPr>
            <p:cNvPr id="7" name="TextBox 7"/>
            <p:cNvSpPr txBox="1"/>
            <p:nvPr/>
          </p:nvSpPr>
          <p:spPr>
            <a:xfrm>
              <a:off x="0" y="66675"/>
              <a:ext cx="15213683" cy="1249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135"/>
                </a:lnSpc>
              </a:pPr>
              <a:r>
                <a:rPr lang="en-US" sz="6487" b="1">
                  <a:solidFill>
                    <a:srgbClr val="2E2E2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Summary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3299680"/>
              <a:ext cx="15213683" cy="6789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57"/>
                </a:lnSpc>
              </a:pPr>
              <a:r>
                <a:rPr lang="en-US" sz="3038" dirty="0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 program uses BIOS interrupts to build a working stopwatch.</a:t>
              </a:r>
            </a:p>
            <a:p>
              <a:pPr marL="0" lvl="0" indent="0" algn="l">
                <a:lnSpc>
                  <a:spcPts val="4557"/>
                </a:lnSpc>
              </a:pPr>
              <a:endParaRPr lang="en-US" sz="3038" dirty="0">
                <a:solidFill>
                  <a:srgbClr val="2E2E2E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marL="0" lvl="0" indent="0" algn="l">
                <a:lnSpc>
                  <a:spcPts val="4557"/>
                </a:lnSpc>
              </a:pPr>
              <a:r>
                <a:rPr lang="en-US" sz="3038" dirty="0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Handles input, timing, and display manually.</a:t>
              </a:r>
            </a:p>
            <a:p>
              <a:pPr marL="0" lvl="0" indent="0" algn="l">
                <a:lnSpc>
                  <a:spcPts val="4557"/>
                </a:lnSpc>
              </a:pPr>
              <a:endParaRPr lang="en-US" sz="3038" dirty="0">
                <a:solidFill>
                  <a:srgbClr val="2E2E2E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marL="0" lvl="0" indent="0" algn="l">
                <a:lnSpc>
                  <a:spcPts val="4557"/>
                </a:lnSpc>
              </a:pPr>
              <a:r>
                <a:rPr lang="en-US" sz="3038" dirty="0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Shows how low-level hardware timing works in 8086 Assembly.</a:t>
              </a:r>
            </a:p>
            <a:p>
              <a:pPr marL="0" lvl="0" indent="0" algn="l">
                <a:lnSpc>
                  <a:spcPts val="4557"/>
                </a:lnSpc>
              </a:pPr>
              <a:endParaRPr lang="en-US" sz="3038" dirty="0">
                <a:solidFill>
                  <a:srgbClr val="2E2E2E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marL="0" lvl="0" indent="0" algn="l">
                <a:lnSpc>
                  <a:spcPts val="4557"/>
                </a:lnSpc>
              </a:pPr>
              <a:r>
                <a:rPr lang="en-US" sz="3038" dirty="0">
                  <a:solidFill>
                    <a:srgbClr val="2E2E2E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Simple logic, modular design, easy to understand flow.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279409" y="263758"/>
            <a:ext cx="2130602" cy="2293212"/>
          </a:xfrm>
          <a:custGeom>
            <a:avLst/>
            <a:gdLst/>
            <a:ahLst/>
            <a:cxnLst/>
            <a:rect l="l" t="t" r="r" b="b"/>
            <a:pathLst>
              <a:path w="2130602" h="2293212">
                <a:moveTo>
                  <a:pt x="0" y="0"/>
                </a:moveTo>
                <a:lnTo>
                  <a:pt x="2130603" y="0"/>
                </a:lnTo>
                <a:lnTo>
                  <a:pt x="2130603" y="2293212"/>
                </a:lnTo>
                <a:lnTo>
                  <a:pt x="0" y="22932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88310" y="1028700"/>
            <a:ext cx="8332829" cy="9129593"/>
          </a:xfrm>
          <a:custGeom>
            <a:avLst/>
            <a:gdLst/>
            <a:ahLst/>
            <a:cxnLst/>
            <a:rect l="l" t="t" r="r" b="b"/>
            <a:pathLst>
              <a:path w="8332829" h="9129593">
                <a:moveTo>
                  <a:pt x="0" y="0"/>
                </a:moveTo>
                <a:lnTo>
                  <a:pt x="8332828" y="0"/>
                </a:lnTo>
                <a:lnTo>
                  <a:pt x="8332828" y="9129593"/>
                </a:lnTo>
                <a:lnTo>
                  <a:pt x="0" y="91295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91934" y="6544320"/>
            <a:ext cx="3655500" cy="3395046"/>
          </a:xfrm>
          <a:custGeom>
            <a:avLst/>
            <a:gdLst/>
            <a:ahLst/>
            <a:cxnLst/>
            <a:rect l="l" t="t" r="r" b="b"/>
            <a:pathLst>
              <a:path w="3655500" h="3395046">
                <a:moveTo>
                  <a:pt x="0" y="0"/>
                </a:moveTo>
                <a:lnTo>
                  <a:pt x="3655500" y="0"/>
                </a:lnTo>
                <a:lnTo>
                  <a:pt x="3655500" y="3395045"/>
                </a:lnTo>
                <a:lnTo>
                  <a:pt x="0" y="33950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721138" y="583878"/>
            <a:ext cx="3599557" cy="3174155"/>
          </a:xfrm>
          <a:custGeom>
            <a:avLst/>
            <a:gdLst/>
            <a:ahLst/>
            <a:cxnLst/>
            <a:rect l="l" t="t" r="r" b="b"/>
            <a:pathLst>
              <a:path w="3599557" h="3174155">
                <a:moveTo>
                  <a:pt x="0" y="0"/>
                </a:moveTo>
                <a:lnTo>
                  <a:pt x="3599557" y="0"/>
                </a:lnTo>
                <a:lnTo>
                  <a:pt x="3599557" y="3174155"/>
                </a:lnTo>
                <a:lnTo>
                  <a:pt x="0" y="31741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81289" y="1712132"/>
            <a:ext cx="1056615" cy="2161872"/>
          </a:xfrm>
          <a:custGeom>
            <a:avLst/>
            <a:gdLst/>
            <a:ahLst/>
            <a:cxnLst/>
            <a:rect l="l" t="t" r="r" b="b"/>
            <a:pathLst>
              <a:path w="1056615" h="2161872">
                <a:moveTo>
                  <a:pt x="0" y="0"/>
                </a:moveTo>
                <a:lnTo>
                  <a:pt x="1056615" y="0"/>
                </a:lnTo>
                <a:lnTo>
                  <a:pt x="1056615" y="2161873"/>
                </a:lnTo>
                <a:lnTo>
                  <a:pt x="0" y="21618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837904" y="1871067"/>
            <a:ext cx="904215" cy="2161872"/>
          </a:xfrm>
          <a:custGeom>
            <a:avLst/>
            <a:gdLst/>
            <a:ahLst/>
            <a:cxnLst/>
            <a:rect l="l" t="t" r="r" b="b"/>
            <a:pathLst>
              <a:path w="904215" h="2161872">
                <a:moveTo>
                  <a:pt x="0" y="0"/>
                </a:moveTo>
                <a:lnTo>
                  <a:pt x="904215" y="0"/>
                </a:lnTo>
                <a:lnTo>
                  <a:pt x="904215" y="2161872"/>
                </a:lnTo>
                <a:lnTo>
                  <a:pt x="0" y="21618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6854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91934" y="1871067"/>
            <a:ext cx="1056615" cy="2161872"/>
          </a:xfrm>
          <a:custGeom>
            <a:avLst/>
            <a:gdLst/>
            <a:ahLst/>
            <a:cxnLst/>
            <a:rect l="l" t="t" r="r" b="b"/>
            <a:pathLst>
              <a:path w="1056615" h="2161872">
                <a:moveTo>
                  <a:pt x="0" y="0"/>
                </a:moveTo>
                <a:lnTo>
                  <a:pt x="1056615" y="0"/>
                </a:lnTo>
                <a:lnTo>
                  <a:pt x="1056615" y="2161872"/>
                </a:lnTo>
                <a:lnTo>
                  <a:pt x="0" y="21618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20151" y="2170956"/>
            <a:ext cx="1122277" cy="2161872"/>
          </a:xfrm>
          <a:custGeom>
            <a:avLst/>
            <a:gdLst/>
            <a:ahLst/>
            <a:cxnLst/>
            <a:rect l="l" t="t" r="r" b="b"/>
            <a:pathLst>
              <a:path w="1122277" h="2161872">
                <a:moveTo>
                  <a:pt x="0" y="0"/>
                </a:moveTo>
                <a:lnTo>
                  <a:pt x="1122277" y="0"/>
                </a:lnTo>
                <a:lnTo>
                  <a:pt x="1122277" y="2161872"/>
                </a:lnTo>
                <a:lnTo>
                  <a:pt x="0" y="21618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107" b="-3107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342428" y="2170956"/>
            <a:ext cx="1056615" cy="2161872"/>
          </a:xfrm>
          <a:custGeom>
            <a:avLst/>
            <a:gdLst/>
            <a:ahLst/>
            <a:cxnLst/>
            <a:rect l="l" t="t" r="r" b="b"/>
            <a:pathLst>
              <a:path w="1056615" h="2161872">
                <a:moveTo>
                  <a:pt x="0" y="0"/>
                </a:moveTo>
                <a:lnTo>
                  <a:pt x="1056615" y="0"/>
                </a:lnTo>
                <a:lnTo>
                  <a:pt x="1056615" y="2161872"/>
                </a:lnTo>
                <a:lnTo>
                  <a:pt x="0" y="21618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972454" y="7543901"/>
            <a:ext cx="3095708" cy="1395883"/>
          </a:xfrm>
          <a:custGeom>
            <a:avLst/>
            <a:gdLst/>
            <a:ahLst/>
            <a:cxnLst/>
            <a:rect l="l" t="t" r="r" b="b"/>
            <a:pathLst>
              <a:path w="3095708" h="1395883">
                <a:moveTo>
                  <a:pt x="0" y="0"/>
                </a:moveTo>
                <a:lnTo>
                  <a:pt x="3095709" y="0"/>
                </a:lnTo>
                <a:lnTo>
                  <a:pt x="3095709" y="1395883"/>
                </a:lnTo>
                <a:lnTo>
                  <a:pt x="0" y="13958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568</Words>
  <Application>Microsoft Office PowerPoint</Application>
  <PresentationFormat>Custom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Arial</vt:lpstr>
      <vt:lpstr>Canva Sans Bold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8086_EMU_Stopwatch.pptx</dc:title>
  <cp:lastModifiedBy>Abisekh Khatiwada</cp:lastModifiedBy>
  <cp:revision>5</cp:revision>
  <dcterms:created xsi:type="dcterms:W3CDTF">2006-08-16T00:00:00Z</dcterms:created>
  <dcterms:modified xsi:type="dcterms:W3CDTF">2025-11-30T19:46:52Z</dcterms:modified>
  <dc:identifier>DAG6MhQrSbg</dc:identifier>
</cp:coreProperties>
</file>